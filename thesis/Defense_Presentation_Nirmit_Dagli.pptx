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54864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10642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4C9BE8"/>
                </a:solidFill>
                <a:latin typeface="Calibri"/>
              </a:rPr>
              <a:t>MASTER'S THESIS DEFENCE  ·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6600" b="1" i="0">
                <a:solidFill>
                  <a:srgbClr val="FFD700"/>
                </a:solidFill>
                <a:latin typeface="Calibri"/>
              </a:rPr>
              <a:t>HERO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642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E0E0F0"/>
                </a:solidFill>
                <a:latin typeface="Calibri"/>
              </a:rPr>
              <a:t>Hybrid Quantum-AI Models for Cybersecurity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110642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E0E0F0"/>
                </a:solidFill>
                <a:latin typeface="Calibri"/>
              </a:rPr>
              <a:t>on Cloud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110642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1">
                <a:solidFill>
                  <a:srgbClr val="A0A0C0"/>
                </a:solidFill>
                <a:latin typeface="Calibri"/>
              </a:rPr>
              <a:t>Accuracy  ·  Latency  ·  Energy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526280"/>
            <a:ext cx="6675120" cy="169164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4663440"/>
            <a:ext cx="64008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E0E0F0"/>
                </a:solidFill>
                <a:latin typeface="Calibri"/>
              </a:rPr>
              <a:t>Nirmit Dagli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5074920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A0A0C0"/>
                </a:solidFill>
                <a:latin typeface="Calibri"/>
              </a:rPr>
              <a:t>Master of Science in Computer Science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440680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A0A0C0"/>
                </a:solidFill>
                <a:latin typeface="Calibri"/>
              </a:rPr>
              <a:t>Quinnipiac University  ·  Hamden, Connecticut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5760720"/>
            <a:ext cx="6400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4C9BE8"/>
                </a:solidFill>
                <a:latin typeface="Calibri"/>
              </a:rPr>
              <a:t>Advisor: Prof. Taskin   ·   Committee: Prof. Kruti, Prof. Lin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000" b="0" i="0">
                <a:solidFill>
                  <a:srgbClr val="A0A0C0"/>
                </a:solidFill>
                <a:latin typeface="Calibri"/>
              </a:rPr>
              <a:t>github.com/Nirmitdagli/quantum-thesis-demo   ·   nirmitdagli.github.io/quantum-thesis-demo/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Why Are We Here?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Cybersecurity is exploding. Quantum is hyped. Cloud bills are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57600" cy="2377440"/>
          </a:xfrm>
          <a:prstGeom prst="roundRect">
            <a:avLst/>
          </a:prstGeom>
          <a:solidFill>
            <a:srgbClr val="4C9BE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1" i="0">
                <a:solidFill>
                  <a:srgbClr val="E0E0F0"/>
                </a:solidFill>
                <a:latin typeface="Calibri"/>
              </a:rPr>
              <a:t>Cybersecurity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329184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Networks generate billions of
security events per day.
Classical AI is keeping up — for 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657600" cy="2377440"/>
          </a:xfrm>
          <a:prstGeom prst="roundRect">
            <a:avLst/>
          </a:prstGeom>
          <a:solidFill>
            <a:srgbClr val="9C6ADE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20240"/>
            <a:ext cx="32918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1" i="0">
                <a:solidFill>
                  <a:srgbClr val="E0E0F0"/>
                </a:solidFill>
                <a:latin typeface="Calibri"/>
              </a:rPr>
              <a:t>Quantum hype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23160"/>
            <a:ext cx="329184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"Quantum will revolutionise security!"
Really? At what cost?
In how many years?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783080"/>
            <a:ext cx="3657600" cy="2377440"/>
          </a:xfrm>
          <a:prstGeom prst="roundRect">
            <a:avLst/>
          </a:prstGeom>
          <a:solidFill>
            <a:srgbClr val="F0963C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5" y="1920240"/>
            <a:ext cx="32918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1" i="0">
                <a:solidFill>
                  <a:srgbClr val="E0E0F0"/>
                </a:solidFill>
                <a:latin typeface="Calibri"/>
              </a:rPr>
              <a:t>Cloud costs are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5" y="2423160"/>
            <a:ext cx="329184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AWS Braket: $0.30/task on QPU.
AWS EC2: $0.71/hour.
Which tier should you pay for?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34840"/>
            <a:ext cx="11247120" cy="164592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The question nobody has answered: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29200"/>
            <a:ext cx="10881360" cy="10058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1">
                <a:solidFill>
                  <a:srgbClr val="E0E0F0"/>
                </a:solidFill>
                <a:latin typeface="Calibri"/>
              </a:rPr>
              <a:t>Given a cybersecurity workload, on which cloud tier should it run
(CPU, GPU, or QPU) to minimise cost + energy + latency together — without losing accuracy?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4C9BE8"/>
                </a:solidFill>
                <a:latin typeface="Calibri"/>
              </a:rPr>
              <a:t>This thesis answers that question with measurement, not opinion.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Think of It Like a Restaurant Kitchen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How CPU + GPU + QPU divide the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57600" cy="4023360"/>
          </a:xfrm>
          <a:prstGeom prst="roundRect">
            <a:avLst/>
          </a:prstGeom>
          <a:solidFill>
            <a:srgbClr val="4C9BE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2918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E0E0F0"/>
                </a:solidFill>
                <a:latin typeface="Calibri"/>
              </a:rPr>
              <a:t>CPU
The Head Chef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32918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Coordinates everything.
Reads orders, decides what to do.
Smart but only one thing at a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32918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FFD700"/>
                </a:solidFill>
                <a:latin typeface="Calibri"/>
              </a:rPr>
              <a:t>Data prep · Classical ML ·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83080"/>
            <a:ext cx="3657600" cy="4023360"/>
          </a:xfrm>
          <a:prstGeom prst="roundRect">
            <a:avLst/>
          </a:prstGeom>
          <a:solidFill>
            <a:srgbClr val="50C87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65960"/>
            <a:ext cx="32918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E0E0F0"/>
                </a:solidFill>
                <a:latin typeface="Calibri"/>
              </a:rPr>
              <a:t>GPU
20 Sous-Chefs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154680"/>
            <a:ext cx="32918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Chops vegetables in parallel.
All 20 cooks at once.
Great for repetitive AI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5074920"/>
            <a:ext cx="32918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FFD700"/>
                </a:solidFill>
                <a:latin typeface="Calibri"/>
              </a:rPr>
              <a:t>Neural networks · Parallel kernels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783080"/>
            <a:ext cx="3657600" cy="4023360"/>
          </a:xfrm>
          <a:prstGeom prst="roundRect">
            <a:avLst/>
          </a:prstGeom>
          <a:solidFill>
            <a:srgbClr val="9C6ADE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5" y="1965960"/>
            <a:ext cx="329184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E0E0F0"/>
                </a:solidFill>
                <a:latin typeface="Calibri"/>
              </a:rPr>
              <a:t>QPU
The Magic Taste-Tester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3154680"/>
            <a:ext cx="3291840" cy="1554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Tastes ALL ingredient combinations
at once. Tells you the BEST one.
Magical but expensive and rare.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5074920"/>
            <a:ext cx="329184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FFD700"/>
                </a:solidFill>
                <a:latin typeface="Calibri"/>
              </a:rPr>
              <a:t>Quantum kernels · Optimisation ·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500" b="0" i="1">
                <a:solidFill>
                  <a:srgbClr val="A0A0C0"/>
                </a:solidFill>
                <a:latin typeface="Calibri"/>
              </a:rPr>
              <a:t>You don't fire the head chef and replace them with a magic taste-tester.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D700"/>
                </a:solidFill>
                <a:latin typeface="Calibri"/>
              </a:rPr>
              <a:t>You use ALL THREE — each for what it does best.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4/13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HERO — A Measurement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Heterogeneous Energy-aware Runtime Orchestrator</a:t>
            </a:r>
          </a:p>
        </p:txBody>
      </p:sp>
      <p:pic>
        <p:nvPicPr>
          <p:cNvPr id="8" name="Picture 7" descr="hybrid_architecture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640080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783080"/>
            <a:ext cx="4572000" cy="457200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920240"/>
            <a:ext cx="42062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FD700"/>
                </a:solidFill>
                <a:latin typeface="Calibri"/>
              </a:rPr>
              <a:t>What HERO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423160"/>
            <a:ext cx="4206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Sends the same workload to all 3 tiers (CPU, GPU, QPU)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Measures runtime, energy, accuracy per task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Converts to 2026 cloud dollar cost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Repeats 30× for statistical confidence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Picks the Pareto-optimal tier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Returns a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A0A0C0"/>
                </a:solidFill>
                <a:latin typeface="Calibri"/>
              </a:rPr>
              <a:t>Backend-agnostic — swap the simulator for real IBM/AWS/Azure QPU in one 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5/13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Algorithm 1 — One Page, Five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Allocation → Measurement → Aggregation → Pareto → Selection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2194560" cy="4297680"/>
          </a:xfrm>
          <a:prstGeom prst="roundRect">
            <a:avLst/>
          </a:prstGeom>
          <a:solidFill>
            <a:srgbClr val="4C9BE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1920240"/>
            <a:ext cx="640080" cy="640080"/>
          </a:xfrm>
          <a:prstGeom prst="ellipse">
            <a:avLst/>
          </a:prstGeom>
          <a:solidFill>
            <a:srgbClr val="E0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93392"/>
            <a:ext cx="6400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4C9BE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20116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E0E0F0"/>
                </a:solidFill>
                <a:latin typeface="Calibri"/>
              </a:rPr>
              <a:t>ALLOCATE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192024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0E0F0"/>
                </a:solidFill>
                <a:latin typeface="Calibri"/>
              </a:rPr>
              <a:t>Look at the workload type and size.
Use the rule book to pick a tier:
molecular &amp; big? → QPU.
tabular &amp; small? → CPU.
Image? → GPU.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1783080"/>
            <a:ext cx="2194560" cy="4297680"/>
          </a:xfrm>
          <a:prstGeom prst="roundRect">
            <a:avLst/>
          </a:prstGeom>
          <a:solidFill>
            <a:srgbClr val="50C87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1920240"/>
            <a:ext cx="640080" cy="640080"/>
          </a:xfrm>
          <a:prstGeom prst="ellipse">
            <a:avLst/>
          </a:prstGeom>
          <a:solidFill>
            <a:srgbClr val="E0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93392"/>
            <a:ext cx="6400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50C878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743200"/>
            <a:ext cx="20116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E0E0F0"/>
                </a:solidFill>
                <a:latin typeface="Calibri"/>
              </a:rPr>
              <a:t>MEASURE 30×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39" y="3246120"/>
            <a:ext cx="192024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0E0F0"/>
                </a:solidFill>
                <a:latin typeface="Calibri"/>
              </a:rPr>
              <a:t>Run on every tier 30 times.
Record: accuracy, latency,
energy (joules), cost (USD).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783080"/>
            <a:ext cx="2194560" cy="4297680"/>
          </a:xfrm>
          <a:prstGeom prst="roundRect">
            <a:avLst/>
          </a:prstGeom>
          <a:solidFill>
            <a:srgbClr val="4DD9D9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06440" y="1920240"/>
            <a:ext cx="640080" cy="640080"/>
          </a:xfrm>
          <a:prstGeom prst="ellipse">
            <a:avLst/>
          </a:prstGeom>
          <a:solidFill>
            <a:srgbClr val="E0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993392"/>
            <a:ext cx="6400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4DD9D9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743200"/>
            <a:ext cx="20116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E0E0F0"/>
                </a:solidFill>
                <a:latin typeface="Calibri"/>
              </a:rPr>
              <a:t>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246120"/>
            <a:ext cx="192024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0E0F0"/>
                </a:solidFill>
                <a:latin typeface="Calibri"/>
              </a:rPr>
              <a:t>Mean ± standard deviation.
Wilcoxon p-values vs baseline.
Box plots.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1783080"/>
            <a:ext cx="2194560" cy="4297680"/>
          </a:xfrm>
          <a:prstGeom prst="roundRect">
            <a:avLst/>
          </a:prstGeom>
          <a:solidFill>
            <a:srgbClr val="F0963C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38159" y="1920240"/>
            <a:ext cx="640080" cy="640080"/>
          </a:xfrm>
          <a:prstGeom prst="ellipse">
            <a:avLst/>
          </a:prstGeom>
          <a:solidFill>
            <a:srgbClr val="E0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59" y="1993392"/>
            <a:ext cx="6400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F0963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2743200"/>
            <a:ext cx="20116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E0E0F0"/>
                </a:solidFill>
                <a:latin typeface="Calibri"/>
              </a:rPr>
              <a:t>PARETO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192024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0E0F0"/>
                </a:solidFill>
                <a:latin typeface="Calibri"/>
              </a:rPr>
              <a:t>Drop methods that are worse than
another on every axis (cost,
energy, latency, accuracy).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92640" y="1783080"/>
            <a:ext cx="2194560" cy="4297680"/>
          </a:xfrm>
          <a:prstGeom prst="roundRect">
            <a:avLst/>
          </a:prstGeom>
          <a:solidFill>
            <a:srgbClr val="9C6ADE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69880" y="1920240"/>
            <a:ext cx="640080" cy="640080"/>
          </a:xfrm>
          <a:prstGeom prst="ellipse">
            <a:avLst/>
          </a:prstGeom>
          <a:solidFill>
            <a:srgbClr val="E0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69880" y="1993392"/>
            <a:ext cx="6400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400" b="1" i="0">
                <a:solidFill>
                  <a:srgbClr val="9C6ADE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743200"/>
            <a:ext cx="201168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1" i="0">
                <a:solidFill>
                  <a:srgbClr val="E0E0F0"/>
                </a:solidFill>
                <a:latin typeface="Calibri"/>
              </a:rPr>
              <a:t>RECOMMEND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3246120"/>
            <a:ext cx="1920240" cy="2560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0E0F0"/>
                </a:solidFill>
                <a:latin typeface="Calibri"/>
              </a:rPr>
              <a:t>Argmin over the Pareto set with
the user's weighting of cost
vs energy vs latency vs accuracy.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  <a:latin typeface="Calibri"/>
              </a:rPr>
              <a:t>Same algorithm, any workload. Same algorithm, any future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6/13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Two Workloads, Two Verdicts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Quantum isn't always better. Quantum isn't always worse.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5486400" cy="4663440"/>
          </a:xfrm>
          <a:prstGeom prst="roundRect">
            <a:avLst/>
          </a:prstGeom>
          <a:solidFill>
            <a:srgbClr val="4C9BE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120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E0E0F0"/>
                </a:solidFill>
                <a:latin typeface="Calibri"/>
              </a:rPr>
              <a:t>Workload 1 — Cybersecurity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  <a:latin typeface="Calibri"/>
              </a:rPr>
              <a:t>KDD Cup 99 intrusion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494,021 real network connections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22 attack types (DoS, scanning, botnets)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Methods: SVM, RF, GBM, KNN, QSVM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30-seed Wilcoxon validation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Verdict: classical wins by 12,970×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1">
                <a:solidFill>
                  <a:srgbClr val="E0E0F0"/>
                </a:solidFill>
                <a:latin typeface="Calibri"/>
              </a:rPr>
              <a:t>Reality check for quantum cybersecurity hype.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83080"/>
            <a:ext cx="5486400" cy="4663440"/>
          </a:xfrm>
          <a:prstGeom prst="roundRect">
            <a:avLst/>
          </a:prstGeom>
          <a:solidFill>
            <a:srgbClr val="9C6ADE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51206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E0E0F0"/>
                </a:solidFill>
                <a:latin typeface="Calibri"/>
              </a:rPr>
              <a:t>Workload 2 — Molecular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  <a:latin typeface="Calibri"/>
              </a:rPr>
              <a:t>VQE on the H₂ molecule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51206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2 qubits (parity-reduced)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Hardware-efficient ansatz, COBYLA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Classical exact diagonalisation as truth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Achieves chemical accuracy (&lt; 1.6 mHa)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Verdict: classical wins for H₂…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989320"/>
            <a:ext cx="5120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1">
                <a:solidFill>
                  <a:srgbClr val="FFD700"/>
                </a:solidFill>
                <a:latin typeface="Calibri"/>
              </a:rPr>
              <a:t>…but classical scales O(2ⁿ). Quantum wins above n=50.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7/13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Cybersecurity — Classical Wins by 12,970×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30 runs · KDD Cup 99 · 5 classifiers head-to-head</a:t>
            </a:r>
          </a:p>
        </p:txBody>
      </p:sp>
      <p:pic>
        <p:nvPicPr>
          <p:cNvPr id="8" name="Picture 7" descr="classifi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777240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783080"/>
            <a:ext cx="3520440" cy="420624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Headline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4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237744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50C878"/>
                </a:solidFill>
                <a:latin typeface="Calibri"/>
              </a:rPr>
              <a:t>F1 = 0.998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QSVM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04120" y="278892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9C6ADE"/>
                </a:solidFill>
                <a:latin typeface="Calibri"/>
              </a:rPr>
              <a:t>F1 = 0.667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3364992"/>
            <a:ext cx="3108960" cy="8000"/>
          </a:xfrm>
          <a:prstGeom prst="rect">
            <a:avLst/>
          </a:prstGeom>
          <a:solidFill>
            <a:srgbClr val="A0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61188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Energy (RF)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61188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50C878"/>
                </a:solidFill>
                <a:latin typeface="Calibri"/>
              </a:rPr>
              <a:t>22 J/task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02336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Energy (QSVM)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402336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9C6ADE"/>
                </a:solidFill>
                <a:latin typeface="Calibri"/>
              </a:rPr>
              <a:t>8,315 J/task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4599431"/>
            <a:ext cx="3108960" cy="8000"/>
          </a:xfrm>
          <a:prstGeom prst="rect">
            <a:avLst/>
          </a:prstGeom>
          <a:solidFill>
            <a:srgbClr val="A0A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Cost RF/1M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484632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50C878"/>
                </a:solidFill>
                <a:latin typeface="Calibri"/>
              </a:rPr>
              <a:t>$1.99 USD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25780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Cost QSVM/1M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5257800"/>
            <a:ext cx="16459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300" b="1" i="0">
                <a:solidFill>
                  <a:srgbClr val="9C6ADE"/>
                </a:solidFill>
                <a:latin typeface="Calibri"/>
              </a:rPr>
              <a:t>$2,100,000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0963C"/>
                </a:solidFill>
                <a:latin typeface="Calibri"/>
              </a:rPr>
              <a:t>QSVM also recalls only 50% of attacks. Operationally unacceptable for IDS today.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8/13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Molecular Simulation — VQE Works, but Wait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30 runs · H₂ ground state · VQE vs exact diagonalisation</a:t>
            </a:r>
          </a:p>
        </p:txBody>
      </p:sp>
      <p:pic>
        <p:nvPicPr>
          <p:cNvPr id="8" name="Picture 7" descr="vqe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7772400" cy="4297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321040" y="1783080"/>
            <a:ext cx="3520440" cy="420624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  <a:latin typeface="Calibri"/>
              </a:rPr>
              <a:t>What we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37744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Exact (NumPy)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9748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50C878"/>
                </a:solidFill>
                <a:latin typeface="Calibri"/>
              </a:rPr>
              <a:t>−1.857275 Hartree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15468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VQE estimate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47472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9C6ADE"/>
                </a:solidFill>
                <a:latin typeface="Calibri"/>
              </a:rPr>
              <a:t>−1.857 ± 0.012 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93192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0">
                <a:solidFill>
                  <a:srgbClr val="E0E0F0"/>
                </a:solidFill>
                <a:latin typeface="Calibri"/>
              </a:rPr>
              <a:t>Error vs 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25196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9C6ADE"/>
                </a:solidFill>
                <a:latin typeface="Calibri"/>
              </a:rPr>
              <a:t>0.007 Ha (chem. accurate)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70916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200" b="0" i="1">
                <a:solidFill>
                  <a:srgbClr val="A0A0C0"/>
                </a:solidFill>
                <a:latin typeface="Calibri"/>
              </a:rPr>
              <a:t>But for H₂ today…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02920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0963C"/>
                </a:solidFill>
                <a:latin typeface="Calibri"/>
              </a:rPr>
              <a:t>Classical wins 700,000×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263640"/>
            <a:ext cx="11247120" cy="50292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  <a:latin typeface="Calibri"/>
              </a:rPr>
              <a:t>Why VQE matters: classical needs 16 PB of RAM at 50 qubits. Quantum stays polynomial. The crossover IS coming.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9/13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Pareto Frontier + Allocation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From measurements to a one-page decision rule</a:t>
            </a:r>
          </a:p>
        </p:txBody>
      </p:sp>
      <p:pic>
        <p:nvPicPr>
          <p:cNvPr id="8" name="Picture 7" descr="pareto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91640"/>
            <a:ext cx="5943600" cy="4572000"/>
          </a:xfrm>
          <a:prstGeom prst="rect">
            <a:avLst/>
          </a:prstGeom>
        </p:spPr>
      </p:pic>
      <p:pic>
        <p:nvPicPr>
          <p:cNvPr id="9" name="Picture 8" descr="allocation_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54864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1">
                <a:solidFill>
                  <a:srgbClr val="A0A0C0"/>
                </a:solidFill>
                <a:latin typeface="Calibri"/>
              </a:rPr>
              <a:t>Pareto-optimal on cybersecurity: SVM (cheapest) and Random Forest (most accurate). Everything else is dominated.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10/13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What Does It Cost in 2026 Dollars?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AWS EC2  ·  AWS g5  ·  AWS Braket  ·  IBM Quantum  ·  Azure Quantum</a:t>
            </a:r>
          </a:p>
        </p:txBody>
      </p:sp>
      <p:pic>
        <p:nvPicPr>
          <p:cNvPr id="8" name="Picture 7" descr="cloud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91640"/>
            <a:ext cx="5943600" cy="4572000"/>
          </a:xfrm>
          <a:prstGeom prst="rect">
            <a:avLst/>
          </a:prstGeom>
        </p:spPr>
      </p:pic>
      <p:pic>
        <p:nvPicPr>
          <p:cNvPr id="9" name="Picture 8" descr="crossover_pro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5486400" cy="457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6263640"/>
            <a:ext cx="11247120" cy="502920"/>
          </a:xfrm>
          <a:prstGeom prst="roundRect">
            <a:avLst/>
          </a:prstGeom>
          <a:solidFill>
            <a:srgbClr val="F0963C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1" i="0">
                <a:solidFill>
                  <a:srgbClr val="0A0A1A"/>
                </a:solidFill>
                <a:latin typeface="Calibri"/>
              </a:rPr>
              <a:t>$1.99 (CPU) vs $2,100,000 (QPU) per million classifications. Classical wins TODAY. Crossover projected at ~10⁴ features with fault-tolerant hardware.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11/13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Live Demo — Try It Yourself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Open-source artifact: 151 MB of code, data, figures, papers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3080"/>
            <a:ext cx="3657600" cy="3383280"/>
          </a:xfrm>
          <a:prstGeom prst="roundRect">
            <a:avLst/>
          </a:prstGeom>
          <a:solidFill>
            <a:srgbClr val="4C9BE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200" b="1" i="0">
                <a:solidFill>
                  <a:srgbClr val="E0E0F0"/>
                </a:solidFill>
                <a:latin typeface="Calibri"/>
              </a:rPr>
              <a:t>Live Website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329184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E0E0F0"/>
                </a:solidFill>
                <a:latin typeface="Consolas"/>
              </a:rPr>
              <a:t>nirmitdagli.github.io/
quantum-thesis-demo/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32918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  <a:latin typeface="Calibri"/>
              </a:rPr>
              <a:t>Polished narrative
summary of the thesis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83080"/>
            <a:ext cx="3657600" cy="3383280"/>
          </a:xfrm>
          <a:prstGeom prst="roundRect">
            <a:avLst/>
          </a:prstGeom>
          <a:solidFill>
            <a:srgbClr val="9C6ADE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20240"/>
            <a:ext cx="32918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200" b="1" i="0">
                <a:solidFill>
                  <a:srgbClr val="E0E0F0"/>
                </a:solidFill>
                <a:latin typeface="Calibri"/>
              </a:rPr>
              <a:t>Live Simulator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68880"/>
            <a:ext cx="329184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E0E0F0"/>
                </a:solidFill>
                <a:latin typeface="Consolas"/>
              </a:rPr>
              <a:t>nirmitdagli.github.io/
quantum-thesis-demo/
simulator.html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4160520"/>
            <a:ext cx="32918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  <a:latin typeface="Calibri"/>
              </a:rPr>
              <a:t>Configure a workload,
see HERO's decision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783080"/>
            <a:ext cx="3657600" cy="3383280"/>
          </a:xfrm>
          <a:prstGeom prst="roundRect">
            <a:avLst/>
          </a:prstGeom>
          <a:solidFill>
            <a:srgbClr val="50C878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5" y="1920240"/>
            <a:ext cx="329184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200" b="1" i="0">
                <a:solidFill>
                  <a:srgbClr val="E0E0F0"/>
                </a:solidFill>
                <a:latin typeface="Calibri"/>
              </a:rPr>
              <a:t>Open Code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2468880"/>
            <a:ext cx="3291840" cy="12801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300" b="0" i="0">
                <a:solidFill>
                  <a:srgbClr val="E0E0F0"/>
                </a:solidFill>
                <a:latin typeface="Consolas"/>
              </a:rPr>
              <a:t>github.com/Nirmitdagli/
quantum-thesis-demo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4160520"/>
            <a:ext cx="3291840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  <a:latin typeface="Calibri"/>
              </a:rPr>
              <a:t>MIT licensed.
Fork it. Run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440680"/>
            <a:ext cx="11247120" cy="128016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1" i="0">
                <a:solidFill>
                  <a:srgbClr val="FFD700"/>
                </a:solidFill>
                <a:latin typeface="Calibri"/>
              </a:rPr>
              <a:t>Reproduce in 5 minutes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0">
                <a:solidFill>
                  <a:srgbClr val="E0E0F0"/>
                </a:solidFill>
                <a:latin typeface="Consolas"/>
              </a:rPr>
              <a:t>$  git clone https://github.com/Nirmitdagli/quantum-thesis-demo.git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10881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0">
                <a:solidFill>
                  <a:srgbClr val="E0E0F0"/>
                </a:solidFill>
                <a:latin typeface="Consolas"/>
              </a:rPr>
              <a:t>$  python -m hybrid_simulation.run_hybrid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12/13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What this thesis does NOT claim — and 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F0963C"/>
                </a:solidFill>
                <a:latin typeface="Calibri"/>
              </a:rPr>
              <a:t>Limitations (honest)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No real quantum hardware (Qiskit Aer simulator only)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Small quantum sample (120 points — kernel cost is O(n²))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QPU energy is modelled, not measured (no facility telemetry)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Only KDD Cup 99 for cross-tier comparison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Only H₂ for VQE — LiH and BeH₂ supported but not run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Cloud pricing is an April 2026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91640"/>
            <a:ext cx="5486400" cy="4114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1" i="0">
                <a:solidFill>
                  <a:srgbClr val="50C878"/>
                </a:solidFill>
                <a:latin typeface="Calibri"/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9456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Migrate QPU tier to IBM Eagle / AWS Braket Rigetti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Compare noiseless simulator vs real-hardware QSVM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Add LiH, BeH₂, larger molecules to VQE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RAPL / NVML live energy telemetry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Kubernetes operator for production deployment</a:t>
            </a:r>
          </a:p>
          <a:p>
            <a:pPr algn="l"/>
            <a:r>
              <a:rPr sz="1400">
                <a:solidFill>
                  <a:srgbClr val="E0E0F0"/>
                </a:solidFill>
                <a:latin typeface="Calibri"/>
              </a:rPr>
              <a:t>• Cloud billing API for live cost (vs static dict)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263640"/>
            <a:ext cx="11247120" cy="50292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1">
                <a:solidFill>
                  <a:srgbClr val="FFD700"/>
                </a:solidFill>
                <a:latin typeface="Calibri"/>
              </a:rPr>
              <a:t>The framework is designed to absorb every one of these as cloud QPU hardware matures.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000" b="0" i="0">
                <a:solidFill>
                  <a:srgbClr val="A0A0C0"/>
                </a:solidFill>
                <a:latin typeface="Calibri"/>
              </a:rPr>
              <a:t>HERO  ·  Defense  ·  13/13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64008"/>
            <a:ext cx="32004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000" b="0" i="0">
                <a:solidFill>
                  <a:srgbClr val="A0A0C0"/>
                </a:solidFill>
                <a:latin typeface="Calibri"/>
              </a:rPr>
              <a:t>Nirmit Dagli  ·  Quinnipiac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3200" b="1" i="0">
                <a:solidFill>
                  <a:srgbClr val="E0E0F0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1">
                <a:solidFill>
                  <a:srgbClr val="A0A0C0"/>
                </a:solidFill>
                <a:latin typeface="Calibri"/>
              </a:rPr>
              <a:t>What you should remember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57600" cy="274320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57600" cy="73152"/>
          </a:xfrm>
          <a:prstGeom prst="rect">
            <a:avLst/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3291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E0E0F0"/>
                </a:solidFill>
                <a:latin typeface="Calibri"/>
              </a:rPr>
              <a:t>It's a measurement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29184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HERO doesn't claim quantum advantage.
It measures CPU + GPU + QPU honestly
across cost, energy, latency,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91640"/>
            <a:ext cx="3657600" cy="274320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691640"/>
            <a:ext cx="3657600" cy="73152"/>
          </a:xfrm>
          <a:prstGeom prst="rect">
            <a:avLst/>
          </a:prstGeom>
          <a:solidFill>
            <a:srgbClr val="9C6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874519"/>
            <a:ext cx="3291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E0E0F0"/>
                </a:solidFill>
                <a:latin typeface="Calibri"/>
              </a:rPr>
              <a:t>Two contrasting verdicts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514600"/>
            <a:ext cx="329184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Cybersecurity: classical wins by 12,970×
Molecular sim: classical wins TODAY,
but loses scaling-wise above n = 50 qubits.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691640"/>
            <a:ext cx="3657600" cy="2743200"/>
          </a:xfrm>
          <a:prstGeom prst="roundRect">
            <a:avLst/>
          </a:prstGeom>
          <a:solidFill>
            <a:srgbClr val="141E33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691640"/>
            <a:ext cx="3657600" cy="73152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5" y="1874519"/>
            <a:ext cx="329184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E0E0F0"/>
                </a:solidFill>
                <a:latin typeface="Calibri"/>
              </a:rPr>
              <a:t>Workload-aware allocation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2514600"/>
            <a:ext cx="3291840" cy="1737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0E0F0"/>
                </a:solidFill>
                <a:latin typeface="Calibri"/>
              </a:rPr>
              <a:t>Concrete decision tree from measurements.
Open source, reproducible in 5 minutes,
extensible to any new workload or backend.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17720"/>
            <a:ext cx="11247120" cy="1783080"/>
          </a:xfrm>
          <a:prstGeom prst="roundRect">
            <a:avLst/>
          </a:prstGeom>
          <a:solidFill>
            <a:srgbClr val="9C6ADE"/>
          </a:solidFill>
          <a:ln w="9525">
            <a:solidFill>
              <a:srgbClr val="A0A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8813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1" i="0">
                <a:solidFill>
                  <a:srgbClr val="E0E0F0"/>
                </a:solidFill>
                <a:latin typeface="Calibri"/>
              </a:rPr>
              <a:t>Thank you. Questions?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0" i="0">
                <a:solidFill>
                  <a:srgbClr val="E0E0F0"/>
                </a:solidFill>
                <a:latin typeface="Consolas"/>
              </a:rPr>
              <a:t>github.com/Nirmitdagli/quantum-thesis-demo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0" i="0">
                <a:solidFill>
                  <a:srgbClr val="E0E0F0"/>
                </a:solidFill>
                <a:latin typeface="Consolas"/>
              </a:rPr>
              <a:t>nirmitdagli.github.io/quantum-thesis-demo/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1">
                <a:solidFill>
                  <a:srgbClr val="A0A0C0"/>
                </a:solidFill>
                <a:latin typeface="Calibri"/>
              </a:rPr>
              <a:t>Nirmit Dagli  ·  Quinnipiac University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